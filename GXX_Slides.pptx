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 10 minutes, all 6 members present, real voices.</a:t>
            </a:r>
          </a:p>
          <a:p>
            <a:r>
              <a:t>Each member has 2+ slides: how it works, then why we chose it (with a performance graph).</a:t>
            </a:r>
          </a:p>
          <a:p>
            <a:r>
              <a:t>Member F runs one live demo of everything, then shows the results and pros.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Pre-recording: docker compose up, app on http://localhost:5001 with images.</a:t>
            </a:r>
          </a:p>
          <a:p>
            <a:r>
              <a:t>Terminals ready for the demo: mysql, mongosh, redis-cli (MONITOR), MinIO console.</a:t>
            </a:r>
          </a:p>
          <a:p>
            <a:r>
              <a:t>Keep each explainer tight so the live demo has room. Stay under 10:00.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Sell it as a product. Hook: fans juggle apps, lose tickets, forget setlists.</a:t>
            </a:r>
          </a:p>
          <a:p>
            <a:r>
              <a:t>Value: one home for the journey. Two roles: customers and admins.</a:t>
            </a:r>
          </a:p>
          <a:p>
            <a:r>
              <a:t>Set up the next slide: the journey needs different kinds of data, so we use four stores.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picture: the app talks to four stores, each chosen for a reason.</a:t>
            </a:r>
          </a:p>
          <a:p>
            <a:r>
              <a:t>Name the reason for each in one line; the next speakers go deeper.</a:t>
            </a:r>
          </a:p>
          <a:p>
            <a:r>
              <a:t>Mention 'polyglot persistence' is normal in industry; each store scales independently. Hand to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but realistic and rule-respecting; deterministic so markers reseed identical data.</a:t>
            </a:r>
          </a:p>
          <a:p>
            <a:r>
              <a:t>Also: 30 artists, 15 venues, ~176 bookings, 220 follows, ~25 setlists, 30 bios.</a:t>
            </a:r>
          </a:p>
          <a:p>
            <a:r>
              <a:t>Set up the model on the next slide. Hand within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ER diagram: show the one-to-many, the two many-to-many junctions, and the link to documents.</a:t>
            </a:r>
          </a:p>
          <a:p>
            <a:r>
              <a:t>Note 3NF normalisation and the data-type variety the brief asks for. Hand to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relational: bookings and money need strict correctness (ACID).</a:t>
            </a:r>
          </a:p>
          <a:p>
            <a:r>
              <a:t>The triggers are the core integrity guarantee; the seat trigger makes overselling impossible.</a:t>
            </a:r>
          </a:p>
          <a:p>
            <a:r>
              <a:t>The flow chart shows the booking path: quota check + insert + trigger in one transaction. Why-slide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graph: the seat trigger guarantees no oversell for only ~23% more time per booking.</a:t>
            </a:r>
          </a:p>
          <a:p>
            <a:r>
              <a:t>Right panel: committing in batches is ~11x faster than one commit per row (durability cost).</a:t>
            </a:r>
          </a:p>
          <a:p>
            <a:r>
              <a:t>Production: a connection pool would erase most of the ~8 ms read floor we saw (connect-per-call). Hand to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documents: variable shape would need many sparse tables and joins in SQL; a document is read as one unit.</a:t>
            </a:r>
          </a:p>
          <a:p>
            <a:r>
              <a:t>Why object storage: documents have a 16 MB cap and image bytes bloat backups; storage is built for blobs.</a:t>
            </a:r>
          </a:p>
          <a:p>
            <a:r>
              <a:t>The flow chart shows bytes going to MinIO while the database keeps the pointer. Why-slide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graph: the app's own CPU time is far below the total time, so the database engine did the work.</a:t>
            </a:r>
          </a:p>
          <a:p>
            <a:r>
              <a:t>That means analytics scale with the database, not the app process.</a:t>
            </a:r>
          </a:p>
          <a:p>
            <a:r>
              <a:t>Production: replica set for failover, sharding for scale, object storage behind a CDN. Hand to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a cache: hot listing pages and sessions belong in memory, not a fresh query each time.</a:t>
            </a:r>
          </a:p>
          <a:p>
            <a:r>
              <a:t>Cache-aside for listings; write-behind for view counts; sessions slide on each request.</a:t>
            </a:r>
          </a:p>
          <a:p>
            <a:r>
              <a:t>Security one line: parameterised SQL, bcrypt, CSRF tokens, hardened cookies, admins can't buy. Why-slide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graph: a key lookup from Redis is about 80x faster than from MySQL; cached pages ~67x faster.</a:t>
            </a:r>
          </a:p>
          <a:p>
            <a:r>
              <a:t>Redis still beats the others per call even under load; it just does not scale with Python threads.</a:t>
            </a:r>
          </a:p>
          <a:p>
            <a:r>
              <a:t>Production: Redis Cluster for HA, persistence for durability, eviction to cap memory. Hand to F for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 F drives one screen recording that touches every feature and all four stores.</a:t>
            </a:r>
          </a:p>
          <a:p>
            <a:r>
              <a:t>Keep the four terminals visible so the audience sees the data change live.</a:t>
            </a:r>
          </a:p>
          <a:p>
            <a:r>
              <a:t>Next slide is the run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run sheet (docs/demo_cli.md). Keep mysql, mongosh, redis-cli MONITOR and MinIO visible.</a:t>
            </a:r>
          </a:p>
          <a:p>
            <a:r>
              <a:t>1) Sign up + log in: KEYS session:* shows a token, TTL ~1800; users.password_hash is bcrypt.</a:t>
            </a:r>
          </a:p>
          <a:p>
            <a:r>
              <a:t>2) Load /concerts, reload: MONITOR shows a cache hit, no MySQL query the second time.</a:t>
            </a:r>
          </a:p>
          <a:p>
            <a:r>
              <a:t>3) Book; attempt an oversell (trigger blocks it); attempt a 7th ticket (quota blocks it).</a:t>
            </a:r>
          </a:p>
          <a:p>
            <a:r>
              <a:t>4) Post a review with a photo: new MongoDB doc photos:[{url,key}], object in MinIO; like twice, unchanged.</a:t>
            </a:r>
          </a:p>
          <a:p>
            <a:r>
              <a:t>5) Follow an artist; cancel a booking, available_seats restored by the trigger.</a:t>
            </a:r>
          </a:p>
          <a:p>
            <a:r>
              <a:t>6) Admin: create a concert with a new artist+venue (one transaction); delete a booking-free concert, Mongo + MinIO cascaded away.</a:t>
            </a:r>
          </a:p>
          <a:p>
            <a:r>
              <a:t>Then the results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Big-number recap, plain language.</a:t>
            </a:r>
          </a:p>
          <a:p>
            <a:r>
              <a:t>67x: serving the same list from Redis vs running the 3-table MySQL query.</a:t>
            </a:r>
          </a:p>
          <a:p>
            <a:r>
              <a:t>80x: one record by key, Redis GET vs MySQL primary-key lookup (access time).</a:t>
            </a:r>
          </a:p>
          <a:p>
            <a:r>
              <a:t>11x: 50 bookings in one transaction vs one commit each. 0 oversells: the seat trigger.</a:t>
            </a:r>
          </a:p>
          <a:p>
            <a:r>
              <a:t>Close on the pros, then the contact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slide lists the team lead / point-of-contact email (required).</a:t>
            </a:r>
          </a:p>
          <a:p>
            <a:r>
              <a:t>Recap the value in one sentence, thank the markers, keep under 10:00.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1371600"/>
            <a:ext cx="914400" cy="914400"/>
          </a:xfrm>
          <a:prstGeom prst="ellipse">
            <a:avLst/>
          </a:prstGeom>
          <a:solidFill>
            <a:srgbClr val="2D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  <a:latin typeface="Trebuchet MS"/>
              </a:rPr>
              <a:t>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0" b="1" i="0">
                <a:solidFill>
                  <a:srgbClr val="FFFFFF"/>
                </a:solidFill>
                <a:latin typeface="Trebuchet MS"/>
              </a:rPr>
              <a:t>GigTrack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CFDDF2"/>
                </a:solidFill>
                <a:latin typeface="Calibri"/>
              </a:rPr>
              <a:t>A live-music discovery, ticketing and memory companion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D7CF6"/>
                </a:solidFill>
                <a:latin typeface="Calibri"/>
              </a:rPr>
              <a:t>INF2003 Database Systems, Final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7492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CFDDF2"/>
                </a:solidFill>
                <a:latin typeface="Calibri"/>
              </a:rPr>
              <a:t>Group GXX    Member 1 (lead) · Member 2 · Member 3 · Member 4 · Member 5 · Member 6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280"/>
                </a:solidFill>
                <a:latin typeface="Calibri"/>
              </a:rPr>
              <a:t>[ Replace GXX and names; put each presenter's name and SIT email on their slides.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E1B33"/>
                </a:solidFill>
                <a:latin typeface="Trebuchet MS"/>
              </a:rPr>
              <a:t>Run of show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91672" cy="45720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517904"/>
            <a:ext cx="365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Trebuchet MS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7" y="151790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Trebuchet MS"/>
              </a:rPr>
              <a:t>Speaker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1517904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Trebuchet MS"/>
              </a:rPr>
              <a:t>Covers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96528" y="151790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Trebuchet M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36575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D7CF6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1965960"/>
            <a:ext cx="13716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A2230"/>
                </a:solidFill>
                <a:latin typeface="Calibri"/>
              </a:rPr>
              <a:t>Member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1965960"/>
            <a:ext cx="5669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230"/>
                </a:solidFill>
                <a:latin typeface="Calibri"/>
              </a:rPr>
              <a:t>Background, the problem, and the four-store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6528" y="1965960"/>
            <a:ext cx="27432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2 slides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15768"/>
            <a:ext cx="11091672" cy="74980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15768"/>
            <a:ext cx="36575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D7CF6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2715768"/>
            <a:ext cx="13716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A2230"/>
                </a:solidFill>
                <a:latin typeface="Calibri"/>
              </a:rPr>
              <a:t>Member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2715768"/>
            <a:ext cx="5669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230"/>
                </a:solidFill>
                <a:latin typeface="Calibri"/>
              </a:rPr>
              <a:t>The datasets and the data model (ER)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2715768"/>
            <a:ext cx="27432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2 slides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465576"/>
            <a:ext cx="36575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D7CF6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465576"/>
            <a:ext cx="13716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A2230"/>
                </a:solidFill>
                <a:latin typeface="Calibri"/>
              </a:rPr>
              <a:t>Member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3465576"/>
            <a:ext cx="5669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230"/>
                </a:solidFill>
                <a:latin typeface="Calibri"/>
              </a:rPr>
              <a:t>Relational database (MySQL): how it works, and why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3465576"/>
            <a:ext cx="27432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2 slides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15384"/>
            <a:ext cx="11091672" cy="74980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215384"/>
            <a:ext cx="36575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D7CF6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7" y="4215384"/>
            <a:ext cx="13716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A2230"/>
                </a:solidFill>
                <a:latin typeface="Calibri"/>
              </a:rPr>
              <a:t>Member 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4215384"/>
            <a:ext cx="5669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230"/>
                </a:solidFill>
                <a:latin typeface="Calibri"/>
              </a:rPr>
              <a:t>Documents and media (MongoDB, MinIO): how, and 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96528" y="4215384"/>
            <a:ext cx="27432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2 slides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965192"/>
            <a:ext cx="36575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D7CF6"/>
                </a:solidFill>
                <a:latin typeface="Calibri"/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4965192"/>
            <a:ext cx="13716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A2230"/>
                </a:solidFill>
                <a:latin typeface="Calibri"/>
              </a:rPr>
              <a:t>Member 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1488" y="4965192"/>
            <a:ext cx="5669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230"/>
                </a:solidFill>
                <a:latin typeface="Calibri"/>
              </a:rPr>
              <a:t>Speed, sessions, security (Redis): how, and why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4965192"/>
            <a:ext cx="27432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2 slides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715000"/>
            <a:ext cx="11091672" cy="74980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715000"/>
            <a:ext cx="36575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D7CF6"/>
                </a:solidFill>
                <a:latin typeface="Calibri"/>
              </a:rPr>
              <a:t>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7007" y="5715000"/>
            <a:ext cx="13716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A2230"/>
                </a:solidFill>
                <a:latin typeface="Calibri"/>
              </a:rPr>
              <a:t>Member 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1488" y="5715000"/>
            <a:ext cx="5669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230"/>
                </a:solidFill>
                <a:latin typeface="Calibri"/>
              </a:rPr>
              <a:t>One live demo of everything, then the results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96528" y="5715000"/>
            <a:ext cx="27432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3 slides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19672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80"/>
                </a:solidFill>
                <a:latin typeface="Calibri"/>
              </a:rPr>
              <a:t>Every database part explains how it works, then why we chose it with the speed numbers. One live demo shows it 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603504" cy="603504"/>
          </a:xfrm>
          <a:prstGeom prst="ellipse">
            <a:avLst/>
          </a:prstGeom>
          <a:solidFill>
            <a:srgbClr val="2D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20624"/>
            <a:ext cx="7863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B33"/>
                </a:solidFill>
                <a:latin typeface="Trebuchet MS"/>
              </a:rPr>
              <a:t>Background and the problem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D7CF6"/>
                </a:solidFill>
                <a:latin typeface="Calibri"/>
              </a:rPr>
              <a:t>Member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4864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Fans use a dozen apps to find gigs, lose their tickets, and forget the setlist.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GigTrack is one home for the whole journey: discover, book, and remember.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Two kinds of user: customers who browse and book, and admins who run the catalogue.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Goal: build a real product on a sensible mix of databases, and back every choice with numbers.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943100"/>
            <a:ext cx="5074920" cy="868680"/>
          </a:xfrm>
          <a:prstGeom prst="roundRect">
            <a:avLst/>
          </a:prstGeom>
          <a:solidFill>
            <a:srgbClr val="F4F8FE"/>
          </a:solidFill>
          <a:ln w="19050">
            <a:solidFill>
              <a:srgbClr val="2D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2D7CF6"/>
                </a:solidFill>
                <a:latin typeface="Trebuchet MS"/>
              </a:rPr>
              <a:t>1.  Discover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230"/>
                </a:solidFill>
                <a:latin typeface="Calibri"/>
              </a:rPr>
              <a:t>browse and filter gigs by city, genre and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793492"/>
            <a:ext cx="507492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314700"/>
            <a:ext cx="5074920" cy="868680"/>
          </a:xfrm>
          <a:prstGeom prst="roundRect">
            <a:avLst/>
          </a:prstGeom>
          <a:solidFill>
            <a:srgbClr val="F4F8FE"/>
          </a:solidFill>
          <a:ln w="19050">
            <a:solidFill>
              <a:srgbClr val="2D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2D7CF6"/>
                </a:solidFill>
                <a:latin typeface="Trebuchet MS"/>
              </a:rPr>
              <a:t>2.  Book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230"/>
                </a:solidFill>
                <a:latin typeface="Calibri"/>
              </a:rPr>
              <a:t>buy tickets safely, up to six per show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4165092"/>
            <a:ext cx="507492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686300"/>
            <a:ext cx="5074920" cy="868680"/>
          </a:xfrm>
          <a:prstGeom prst="roundRect">
            <a:avLst/>
          </a:prstGeom>
          <a:solidFill>
            <a:srgbClr val="F4F8FE"/>
          </a:solidFill>
          <a:ln w="19050">
            <a:solidFill>
              <a:srgbClr val="2D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2D7CF6"/>
                </a:solidFill>
                <a:latin typeface="Trebuchet MS"/>
              </a:rPr>
              <a:t>3.  Remember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230"/>
                </a:solidFill>
                <a:latin typeface="Calibri"/>
              </a:rPr>
              <a:t>setlists, reviews and photos after the show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825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</a:rPr>
              <a:t>[ Member A - Full Name - name@sit.singaporetech.edu.sg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603504" cy="603504"/>
          </a:xfrm>
          <a:prstGeom prst="ellipse">
            <a:avLst/>
          </a:prstGeom>
          <a:solidFill>
            <a:srgbClr val="2D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20624"/>
            <a:ext cx="7863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B33"/>
                </a:solidFill>
                <a:latin typeface="Trebuchet MS"/>
              </a:rPr>
              <a:t>The four-store stack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D7CF6"/>
                </a:solidFill>
                <a:latin typeface="Calibri"/>
              </a:rPr>
              <a:t>Member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4864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Each kind of data goes to the store that handles it best, instead of forcing one database to do everything.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The app ties them together and keeps them consistent.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MySQL for the core records, MongoDB for flexible content, Redis for speed, MinIO for image files.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This 'polyglot' approach is a standard pattern in real systems, and each store can scale on its own.</a:t>
            </a:r>
          </a:p>
        </p:txBody>
      </p:sp>
      <p:pic>
        <p:nvPicPr>
          <p:cNvPr id="6" name="Picture 5" descr="simpl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91640"/>
            <a:ext cx="5257800" cy="3286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5050917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80"/>
                </a:solidFill>
                <a:latin typeface="Calibri"/>
              </a:rPr>
              <a:t>Four datastores, connected through the app.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825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</a:rPr>
              <a:t>[ Member A - Full Name - name@sit.singaporetech.edu.sg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603504" cy="603504"/>
          </a:xfrm>
          <a:prstGeom prst="ellipse">
            <a:avLst/>
          </a:prstGeom>
          <a:solidFill>
            <a:srgbClr val="2D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20624"/>
            <a:ext cx="7863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B33"/>
                </a:solidFill>
                <a:latin typeface="Trebuchet MS"/>
              </a:rPr>
              <a:t>The data and datasets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D7CF6"/>
                </a:solidFill>
                <a:latin typeface="Calibri"/>
              </a:rPr>
              <a:t>Member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4864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A realistic catalogue, generated to a fixed recipe so everyone gets the exact same data.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It already respects the rules: no oversold seats, VIP pricing, and the six-ticket limit.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Real artist photos are stored as files, with only a link kept in the database.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Easy to swap in a real public dataset later (Kaggle, Setlist.fm, data.gov.sg) through the same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26289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2D7CF6"/>
                </a:solidFill>
                <a:latin typeface="Trebuchet M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18232"/>
            <a:ext cx="26289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9700" y="1920240"/>
            <a:ext cx="26289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2D7CF6"/>
                </a:solidFill>
                <a:latin typeface="Trebuchet MS"/>
              </a:rP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29700" y="2618232"/>
            <a:ext cx="26289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concerts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977639"/>
            <a:ext cx="26289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2D7CF6"/>
                </a:solidFill>
                <a:latin typeface="Trebuchet MS"/>
              </a:rPr>
              <a:t>116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675631"/>
            <a:ext cx="26289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ticket tiers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9700" y="3977639"/>
            <a:ext cx="26289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2D7CF6"/>
                </a:solidFill>
                <a:latin typeface="Trebuchet MS"/>
              </a:rPr>
              <a:t>220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9700" y="4675631"/>
            <a:ext cx="26289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reviews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825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</a:rPr>
              <a:t>[ Member B - Full Name - name@sit.singaporetech.edu.sg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603504" cy="603504"/>
          </a:xfrm>
          <a:prstGeom prst="ellipse">
            <a:avLst/>
          </a:prstGeom>
          <a:solidFill>
            <a:srgbClr val="2D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20624"/>
            <a:ext cx="7863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B33"/>
                </a:solidFill>
                <a:latin typeface="Trebuchet MS"/>
              </a:rPr>
              <a:t>How the data is modelled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D7CF6"/>
                </a:solidFill>
                <a:latin typeface="Calibri"/>
              </a:rPr>
              <a:t>Member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4864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Three kinds of link: one-to-many (a venue has many concerts), many-to-many (line-ups and follows), and a link from the document side back to the main records.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A mix of data types: text, whole numbers, money, dates, and yes/no flags.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The tables are normalised, so each fact is stored once with no duplication.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The document side references the main records by id, kept consistent by the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91640"/>
            <a:ext cx="5257800" cy="4114800"/>
          </a:xfrm>
          <a:prstGeom prst="roundRect">
            <a:avLst/>
          </a:prstGeom>
          <a:solidFill>
            <a:srgbClr val="EAF1FB"/>
          </a:solidFill>
          <a:ln w="19050">
            <a:solidFill>
              <a:srgbClr val="9D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42A4F"/>
                </a:solidFill>
                <a:latin typeface="Trebuchet MS"/>
              </a:rPr>
              <a:t>▢  FLOW CHART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42A4F"/>
                </a:solidFill>
                <a:latin typeface="Calibri"/>
              </a:rPr>
              <a:t>ER diagram (docs/er_diagram.mermaid)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80"/>
                </a:solidFill>
                <a:latin typeface="Calibri"/>
              </a:rPr>
              <a:t>Export er_diagram.mermaid at mermaid.live, paste the picture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825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</a:rPr>
              <a:t>[ Member B - Full Name - name@sit.singaporetech.edu.sg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603504" cy="603504"/>
          </a:xfrm>
          <a:prstGeom prst="ellipse">
            <a:avLst/>
          </a:prstGeom>
          <a:solidFill>
            <a:srgbClr val="2D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20624"/>
            <a:ext cx="7863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B33"/>
                </a:solidFill>
                <a:latin typeface="Trebuchet MS"/>
              </a:rPr>
              <a:t>Relational database (MySQL): how it works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D7CF6"/>
                </a:solidFill>
                <a:latin typeface="Calibri"/>
              </a:rPr>
              <a:t>Member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4864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8 tables hold the core facts: users, artists, venues, concerts, tickets, bookings, follows and line-ups.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The database enforces the rules itself: foreign keys, value checks, and 4 triggers.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Seats can never be oversold, and a VIP tier can never be cheaper than a normal one.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Buying is safe even if two people click at once: the check and the save happen in one locked step.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Built-in reports, like a revenue ranking per city.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91640"/>
            <a:ext cx="5257800" cy="4114800"/>
          </a:xfrm>
          <a:prstGeom prst="roundRect">
            <a:avLst/>
          </a:prstGeom>
          <a:solidFill>
            <a:srgbClr val="EAF1FB"/>
          </a:solidFill>
          <a:ln w="19050">
            <a:solidFill>
              <a:srgbClr val="9D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42A4F"/>
                </a:solidFill>
                <a:latin typeface="Trebuchet MS"/>
              </a:rPr>
              <a:t>▢  FLOW CHART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42A4F"/>
                </a:solidFill>
                <a:latin typeface="Calibri"/>
              </a:rPr>
              <a:t>Booking and seat trigger (flow_diagrams.md §2)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80"/>
                </a:solidFill>
                <a:latin typeface="Calibri"/>
              </a:rPr>
              <a:t>Export §2 at mermaid.live, paste the flow chart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825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</a:rPr>
              <a:t>[ Member C - Full Name - name@sit.singaporetech.edu.sg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603504" cy="603504"/>
          </a:xfrm>
          <a:prstGeom prst="ellipse">
            <a:avLst/>
          </a:prstGeom>
          <a:solidFill>
            <a:srgbClr val="2D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20624"/>
            <a:ext cx="7863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B33"/>
                </a:solidFill>
                <a:latin typeface="Trebuchet MS"/>
              </a:rPr>
              <a:t>Why MySQL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D7CF6"/>
                </a:solidFill>
                <a:latin typeface="Calibri"/>
              </a:rPr>
              <a:t>Member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212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2D7CF6"/>
                </a:solidFill>
              </a:rPr>
              <a:t>✓  </a:t>
            </a:r>
            <a:r>
              <a:rPr sz="1300">
                <a:solidFill>
                  <a:srgbClr val="1A2230"/>
                </a:solidFill>
              </a:rPr>
              <a:t>Rock-solid for money and inventory (ACID transactions).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2D7CF6"/>
                </a:solidFill>
              </a:rPr>
              <a:t>✓  </a:t>
            </a:r>
            <a:r>
              <a:rPr sz="1300">
                <a:solidFill>
                  <a:srgbClr val="1A2230"/>
                </a:solidFill>
              </a:rPr>
              <a:t>Business rules live in the database itself (triggers and checks).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2D7CF6"/>
                </a:solidFill>
              </a:rPr>
              <a:t>✓  </a:t>
            </a:r>
            <a:r>
              <a:rPr sz="1300">
                <a:solidFill>
                  <a:srgbClr val="1A2230"/>
                </a:solidFill>
              </a:rPr>
              <a:t>Stays correct even when many people book at once.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862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D7CF6"/>
                </a:solidFill>
                <a:latin typeface="Trebuchet MS"/>
              </a:rPr>
              <a:t>In a real production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5212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228600" marL="228600">
              <a:spcBef>
                <a:spcPts val="0"/>
              </a:spcBef>
              <a:spcAft>
                <a:spcPts val="700"/>
              </a:spcAft>
              <a:buFont typeface="Arial"/>
              <a:buChar char="▸"/>
            </a:pPr>
            <a:r>
              <a:rPr sz="1150" b="0" i="0">
                <a:solidFill>
                  <a:srgbClr val="1A2230"/>
                </a:solidFill>
                <a:latin typeface="Calibri"/>
              </a:rPr>
              <a:t>Runs as a primary with read replicas, so reads scale out and writes stay consistent.</a:t>
            </a:r>
          </a:p>
          <a:p>
            <a:pPr algn="l" indent="-228600" marL="228600">
              <a:spcBef>
                <a:spcPts val="0"/>
              </a:spcBef>
              <a:spcAft>
                <a:spcPts val="700"/>
              </a:spcAft>
              <a:buFont typeface="Arial"/>
              <a:buChar char="▸"/>
            </a:pPr>
            <a:r>
              <a:rPr sz="1150" b="0" i="0">
                <a:solidFill>
                  <a:srgbClr val="1A2230"/>
                </a:solidFill>
                <a:latin typeface="Calibri"/>
              </a:rPr>
              <a:t>A connection pool removes the per-request connection cost we measured.</a:t>
            </a:r>
          </a:p>
          <a:p>
            <a:pPr algn="l" indent="-228600" marL="228600">
              <a:spcBef>
                <a:spcPts val="0"/>
              </a:spcBef>
              <a:spcAft>
                <a:spcPts val="700"/>
              </a:spcAft>
              <a:buFont typeface="Arial"/>
              <a:buChar char="▸"/>
            </a:pPr>
            <a:r>
              <a:rPr sz="1150" b="0" i="0">
                <a:solidFill>
                  <a:srgbClr val="1A2230"/>
                </a:solidFill>
                <a:latin typeface="Calibri"/>
              </a:rPr>
              <a:t>Automated backups and point-in-time recovery protect the data.</a:t>
            </a:r>
          </a:p>
        </p:txBody>
      </p:sp>
      <p:pic>
        <p:nvPicPr>
          <p:cNvPr id="8" name="Picture 7" descr="bench_mysq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83080"/>
            <a:ext cx="5532120" cy="24203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4276534"/>
            <a:ext cx="5532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80"/>
                </a:solidFill>
                <a:latin typeface="Calibri"/>
              </a:rPr>
              <a:t>Integrity adds about 23% per booking; batching writes is about 11x faster.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825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</a:rPr>
              <a:t>[ Member C - Full Name - name@sit.singaporetech.edu.sg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603504" cy="603504"/>
          </a:xfrm>
          <a:prstGeom prst="ellipse">
            <a:avLst/>
          </a:prstGeom>
          <a:solidFill>
            <a:srgbClr val="2D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20624"/>
            <a:ext cx="7863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B33"/>
                </a:solidFill>
                <a:latin typeface="Trebuchet MS"/>
              </a:rPr>
              <a:t>Documents and media (MongoDB, MinIO): how it works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D7CF6"/>
                </a:solidFill>
                <a:latin typeface="Calibri"/>
              </a:rPr>
              <a:t>Member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4864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Reviews and setlists vary a lot (tags, photos, 10 to 40 songs), so we store them as flexible documents with no empty columns.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Likes are stored as a set, so liking twice still counts once.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Photos: the picture file lives in storage (MinIO); the database keeps only a link.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Built-in analytics: a ratings dashboard and a join, done inside the database.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91640"/>
            <a:ext cx="5257800" cy="4114800"/>
          </a:xfrm>
          <a:prstGeom prst="roundRect">
            <a:avLst/>
          </a:prstGeom>
          <a:solidFill>
            <a:srgbClr val="EAF1FB"/>
          </a:solidFill>
          <a:ln w="19050">
            <a:solidFill>
              <a:srgbClr val="9D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42A4F"/>
                </a:solidFill>
                <a:latin typeface="Trebuchet MS"/>
              </a:rPr>
              <a:t>▢  FLOW CHART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42A4F"/>
                </a:solidFill>
                <a:latin typeface="Calibri"/>
              </a:rPr>
              <a:t>Review with photo: pointer vs blob (flow_diagrams.md §3)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80"/>
                </a:solidFill>
                <a:latin typeface="Calibri"/>
              </a:rPr>
              <a:t>Export §3 at mermaid.live, paste the flow chart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825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</a:rPr>
              <a:t>[ Member D - Full Name - name@sit.singaporetech.edu.sg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603504" cy="603504"/>
          </a:xfrm>
          <a:prstGeom prst="ellipse">
            <a:avLst/>
          </a:prstGeom>
          <a:solidFill>
            <a:srgbClr val="2D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20624"/>
            <a:ext cx="7863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B33"/>
                </a:solidFill>
                <a:latin typeface="Trebuchet MS"/>
              </a:rPr>
              <a:t>Why MongoDB and MinIO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D7CF6"/>
                </a:solidFill>
                <a:latin typeface="Calibri"/>
              </a:rPr>
              <a:t>Member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212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16A78C"/>
                </a:solidFill>
              </a:rPr>
              <a:t>✓  </a:t>
            </a:r>
            <a:r>
              <a:rPr sz="1300">
                <a:solidFill>
                  <a:srgbClr val="1A2230"/>
                </a:solidFill>
              </a:rPr>
              <a:t>Flexible shape for reviews and setlists, with no empty columns.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6A78C"/>
                </a:solidFill>
              </a:rPr>
              <a:t>✓  </a:t>
            </a:r>
            <a:r>
              <a:rPr sz="1300">
                <a:solidFill>
                  <a:srgbClr val="1A2230"/>
                </a:solidFill>
              </a:rPr>
              <a:t>Analytics (dashboards, joins) run inside the database.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6A78C"/>
                </a:solidFill>
              </a:rPr>
              <a:t>✓  </a:t>
            </a:r>
            <a:r>
              <a:rPr sz="1300">
                <a:solidFill>
                  <a:srgbClr val="1A2230"/>
                </a:solidFill>
              </a:rPr>
              <a:t>Image files never bloat the database; object storage is built for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862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A78C"/>
                </a:solidFill>
                <a:latin typeface="Trebuchet MS"/>
              </a:rPr>
              <a:t>In a real production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5212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228600" marL="228600">
              <a:spcBef>
                <a:spcPts val="0"/>
              </a:spcBef>
              <a:spcAft>
                <a:spcPts val="700"/>
              </a:spcAft>
              <a:buFont typeface="Arial"/>
              <a:buChar char="▸"/>
            </a:pPr>
            <a:r>
              <a:rPr sz="1150" b="0" i="0">
                <a:solidFill>
                  <a:srgbClr val="1A2230"/>
                </a:solidFill>
                <a:latin typeface="Calibri"/>
              </a:rPr>
              <a:t>MongoDB runs as a replica set for high availability, and shards to scale out.</a:t>
            </a:r>
          </a:p>
          <a:p>
            <a:pPr algn="l" indent="-228600" marL="228600">
              <a:spcBef>
                <a:spcPts val="0"/>
              </a:spcBef>
              <a:spcAft>
                <a:spcPts val="700"/>
              </a:spcAft>
              <a:buFont typeface="Arial"/>
              <a:buChar char="▸"/>
            </a:pPr>
            <a:r>
              <a:rPr sz="1150" b="0" i="0">
                <a:solidFill>
                  <a:srgbClr val="1A2230"/>
                </a:solidFill>
                <a:latin typeface="Calibri"/>
              </a:rPr>
              <a:t>Object storage scales without limit and is served through a CDN.</a:t>
            </a:r>
          </a:p>
          <a:p>
            <a:pPr algn="l" indent="-228600" marL="228600">
              <a:spcBef>
                <a:spcPts val="0"/>
              </a:spcBef>
              <a:spcAft>
                <a:spcPts val="700"/>
              </a:spcAft>
              <a:buFont typeface="Arial"/>
              <a:buChar char="▸"/>
            </a:pPr>
            <a:r>
              <a:rPr sz="1150" b="0" i="0">
                <a:solidFill>
                  <a:srgbClr val="1A2230"/>
                </a:solidFill>
                <a:latin typeface="Calibri"/>
              </a:rPr>
              <a:t>Swap MinIO for AWS S3 or Cloudflare R2 by changing only the endpoint.</a:t>
            </a:r>
          </a:p>
        </p:txBody>
      </p:sp>
      <p:pic>
        <p:nvPicPr>
          <p:cNvPr id="8" name="Picture 7" descr="bench_mongo_comp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83080"/>
            <a:ext cx="5532120" cy="25355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4391787"/>
            <a:ext cx="5532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80"/>
                </a:solidFill>
                <a:latin typeface="Calibri"/>
              </a:rPr>
              <a:t>Aggregations run server-side in about half a millisecond.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825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</a:rPr>
              <a:t>[ Member D - Full Name - name@sit.singaporetech.edu.sg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603504" cy="603504"/>
          </a:xfrm>
          <a:prstGeom prst="ellipse">
            <a:avLst/>
          </a:prstGeom>
          <a:solidFill>
            <a:srgbClr val="2D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20624"/>
            <a:ext cx="7863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B33"/>
                </a:solidFill>
                <a:latin typeface="Trebuchet MS"/>
              </a:rPr>
              <a:t>Speed, sessions and security (Redis): how it works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D7CF6"/>
                </a:solidFill>
                <a:latin typeface="Calibri"/>
              </a:rPr>
              <a:t>Member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4864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Popular pages are cached, so they load instantly, and the cache refreshes itself.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Login sessions live in memory and expire on their own (auto logout after 30 minutes).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View counts are tallied in memory and saved to the database in the background.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1A2230"/>
                </a:solidFill>
                <a:latin typeface="Calibri"/>
              </a:rPr>
              <a:t>Security in plain terms: passwords are scrambled, forms are protected, cookies are locked down, and admins cannot buy tickets.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91640"/>
            <a:ext cx="5257800" cy="4114800"/>
          </a:xfrm>
          <a:prstGeom prst="roundRect">
            <a:avLst/>
          </a:prstGeom>
          <a:solidFill>
            <a:srgbClr val="EAF1FB"/>
          </a:solidFill>
          <a:ln w="19050">
            <a:solidFill>
              <a:srgbClr val="9D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42A4F"/>
                </a:solidFill>
                <a:latin typeface="Trebuchet MS"/>
              </a:rPr>
              <a:t>▢  FLOW CHART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42A4F"/>
                </a:solidFill>
                <a:latin typeface="Calibri"/>
              </a:rPr>
              <a:t>Browse caching and view counters (flow_diagrams.md §4)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80"/>
                </a:solidFill>
                <a:latin typeface="Calibri"/>
              </a:rPr>
              <a:t>Export §4 at mermaid.live, paste the flow chart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825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</a:rPr>
              <a:t>[ Member E - Full Name - name@sit.singaporetech.edu.sg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603504" cy="603504"/>
          </a:xfrm>
          <a:prstGeom prst="ellipse">
            <a:avLst/>
          </a:prstGeom>
          <a:solidFill>
            <a:srgbClr val="2D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20624"/>
            <a:ext cx="7863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B33"/>
                </a:solidFill>
                <a:latin typeface="Trebuchet MS"/>
              </a:rPr>
              <a:t>Why Redis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D7CF6"/>
                </a:solidFill>
                <a:latin typeface="Calibri"/>
              </a:rPr>
              <a:t>Member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212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E23B4E"/>
                </a:solidFill>
              </a:rPr>
              <a:t>✓  </a:t>
            </a:r>
            <a:r>
              <a:rPr sz="1300">
                <a:solidFill>
                  <a:srgbClr val="1A2230"/>
                </a:solidFill>
              </a:rPr>
              <a:t>Makes popular pages and logins feel instant.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E23B4E"/>
                </a:solidFill>
              </a:rPr>
              <a:t>✓  </a:t>
            </a:r>
            <a:r>
              <a:rPr sz="1300">
                <a:solidFill>
                  <a:srgbClr val="1A2230"/>
                </a:solidFill>
              </a:rPr>
              <a:t>Takes heavy read load off the database.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E23B4E"/>
                </a:solidFill>
              </a:rPr>
              <a:t>✓  </a:t>
            </a:r>
            <a:r>
              <a:rPr sz="1300">
                <a:solidFill>
                  <a:srgbClr val="1A2230"/>
                </a:solidFill>
              </a:rPr>
              <a:t>Sessions and caches expire on their own (TTLs).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862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23B4E"/>
                </a:solidFill>
                <a:latin typeface="Trebuchet MS"/>
              </a:rPr>
              <a:t>In a real production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5212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228600" marL="228600">
              <a:spcBef>
                <a:spcPts val="0"/>
              </a:spcBef>
              <a:spcAft>
                <a:spcPts val="700"/>
              </a:spcAft>
              <a:buFont typeface="Arial"/>
              <a:buChar char="▸"/>
            </a:pPr>
            <a:r>
              <a:rPr sz="1150" b="0" i="0">
                <a:solidFill>
                  <a:srgbClr val="1A2230"/>
                </a:solidFill>
                <a:latin typeface="Calibri"/>
              </a:rPr>
              <a:t>Runs as a cluster for high availability and to spread keys across nodes.</a:t>
            </a:r>
          </a:p>
          <a:p>
            <a:pPr algn="l" indent="-228600" marL="228600">
              <a:spcBef>
                <a:spcPts val="0"/>
              </a:spcBef>
              <a:spcAft>
                <a:spcPts val="700"/>
              </a:spcAft>
              <a:buFont typeface="Arial"/>
              <a:buChar char="▸"/>
            </a:pPr>
            <a:r>
              <a:rPr sz="1150" b="0" i="0">
                <a:solidFill>
                  <a:srgbClr val="1A2230"/>
                </a:solidFill>
                <a:latin typeface="Calibri"/>
              </a:rPr>
              <a:t>Optional persistence (snapshots or an append-log) so data survives restarts.</a:t>
            </a:r>
          </a:p>
          <a:p>
            <a:pPr algn="l" indent="-228600" marL="228600">
              <a:spcBef>
                <a:spcPts val="0"/>
              </a:spcBef>
              <a:spcAft>
                <a:spcPts val="700"/>
              </a:spcAft>
              <a:buFont typeface="Arial"/>
              <a:buChar char="▸"/>
            </a:pPr>
            <a:r>
              <a:rPr sz="1150" b="0" i="0">
                <a:solidFill>
                  <a:srgbClr val="1A2230"/>
                </a:solidFill>
                <a:latin typeface="Calibri"/>
              </a:rPr>
              <a:t>Memory is capped with eviction; one shared session store across many app servers.</a:t>
            </a:r>
          </a:p>
        </p:txBody>
      </p:sp>
      <p:pic>
        <p:nvPicPr>
          <p:cNvPr id="8" name="Picture 7" descr="bench_point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83080"/>
            <a:ext cx="5532120" cy="26787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4534942"/>
            <a:ext cx="5532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80"/>
                </a:solidFill>
                <a:latin typeface="Calibri"/>
              </a:rPr>
              <a:t>Fetching one item by its key: Redis vs MongoDB vs MySQL.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825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</a:rPr>
              <a:t>[ Member E - Full Name - name@sit.singaporetech.edu.sg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234440"/>
            <a:ext cx="1554480" cy="310896"/>
          </a:xfrm>
          <a:prstGeom prst="roundRect">
            <a:avLst/>
          </a:prstGeom>
          <a:solidFill>
            <a:srgbClr val="F94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rebuchet MS"/>
              </a:rPr>
              <a:t>●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Trebuchet MS"/>
              </a:rPr>
              <a:t>Live demo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 i="0">
                <a:solidFill>
                  <a:srgbClr val="CFDDF2"/>
                </a:solidFill>
                <a:latin typeface="Calibri"/>
              </a:rPr>
              <a:t>The whole app, end to end, on screen.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7EB0FF"/>
                </a:solidFill>
                <a:latin typeface="Calibri"/>
              </a:rPr>
              <a:t>Everything the last five parts described, working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E84A6"/>
                </a:solidFill>
                <a:latin typeface="Calibri"/>
              </a:rPr>
              <a:t>[ Member F - Full Name - name@sit.singaporetech.edu.sg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9880" y="548640"/>
            <a:ext cx="1417320" cy="310896"/>
          </a:xfrm>
          <a:prstGeom prst="roundRect">
            <a:avLst/>
          </a:prstGeom>
          <a:solidFill>
            <a:srgbClr val="F94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rebuchet MS"/>
              </a:rPr>
              <a:t>●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1B33"/>
                </a:solidFill>
                <a:latin typeface="Trebuchet MS"/>
              </a:rPr>
              <a:t>Live demo: one run, every feature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D7CF6"/>
                </a:solidFill>
                <a:latin typeface="Calibri"/>
              </a:rPr>
              <a:t>Member F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2D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73936"/>
            <a:ext cx="47548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E1B33"/>
                </a:solidFill>
                <a:latin typeface="Trebuchet MS"/>
              </a:rPr>
              <a:t>Sign up and log in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230"/>
                </a:solidFill>
                <a:latin typeface="Calibri"/>
              </a:rPr>
              <a:t>A session appears in the cache; the password is stored scrambled, not as text.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2D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91256"/>
            <a:ext cx="47548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E1B33"/>
                </a:solidFill>
                <a:latin typeface="Trebuchet MS"/>
              </a:rPr>
              <a:t>Browse and filter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230"/>
                </a:solidFill>
                <a:latin typeface="Calibri"/>
              </a:rPr>
              <a:t>Open the page again and it loads instantly from the cache.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663440"/>
            <a:ext cx="502920" cy="502920"/>
          </a:xfrm>
          <a:prstGeom prst="ellipse">
            <a:avLst/>
          </a:prstGeom>
          <a:solidFill>
            <a:srgbClr val="2D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608576"/>
            <a:ext cx="47548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E1B33"/>
                </a:solidFill>
                <a:latin typeface="Trebuchet MS"/>
              </a:rPr>
              <a:t>Book tickets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230"/>
                </a:solidFill>
                <a:latin typeface="Calibri"/>
              </a:rPr>
              <a:t>Try to overbook, or buy more than six: both are blocked on the spot.</a:t>
            </a:r>
          </a:p>
        </p:txBody>
      </p:sp>
      <p:sp>
        <p:nvSpPr>
          <p:cNvPr id="11" name="Oval 10"/>
          <p:cNvSpPr/>
          <p:nvPr/>
        </p:nvSpPr>
        <p:spPr>
          <a:xfrm>
            <a:off x="6355080" y="1828800"/>
            <a:ext cx="502920" cy="502920"/>
          </a:xfrm>
          <a:prstGeom prst="ellipse">
            <a:avLst/>
          </a:prstGeom>
          <a:solidFill>
            <a:srgbClr val="2D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773936"/>
            <a:ext cx="44805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E1B33"/>
                </a:solidFill>
                <a:latin typeface="Trebuchet MS"/>
              </a:rPr>
              <a:t>Review with a photo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230"/>
                </a:solidFill>
                <a:latin typeface="Calibri"/>
              </a:rPr>
              <a:t>The photo is saved to storage; like it twice and it still counts once.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3246120"/>
            <a:ext cx="502920" cy="502920"/>
          </a:xfrm>
          <a:prstGeom prst="ellipse">
            <a:avLst/>
          </a:prstGeom>
          <a:solidFill>
            <a:srgbClr val="2D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3191256"/>
            <a:ext cx="44805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E1B33"/>
                </a:solidFill>
                <a:latin typeface="Trebuchet MS"/>
              </a:rPr>
              <a:t>Follow and cancel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230"/>
                </a:solidFill>
                <a:latin typeface="Calibri"/>
              </a:rPr>
              <a:t>Follow an artist; cancel a booking and the seat is returned automatically.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4663440"/>
            <a:ext cx="502920" cy="502920"/>
          </a:xfrm>
          <a:prstGeom prst="ellipse">
            <a:avLst/>
          </a:prstGeom>
          <a:solidFill>
            <a:srgbClr val="2D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4608576"/>
            <a:ext cx="44805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E1B33"/>
                </a:solidFill>
                <a:latin typeface="Trebuchet MS"/>
              </a:rPr>
              <a:t>Admin tools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230"/>
                </a:solidFill>
                <a:latin typeface="Calibri"/>
              </a:rPr>
              <a:t>Create a concert (new act and venue in one go); delete one and its reviews and photos are cleaned up everywhere.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3825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</a:rPr>
              <a:t>[ Member F - Full Name - name@sit.singaporetech.edu.sg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Trebuchet MS"/>
              </a:rPr>
              <a:t>The results, and why it works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CFDDF2"/>
                </a:solidFill>
                <a:latin typeface="Calibri"/>
              </a:rPr>
              <a:t>Same job done two ways. Bigger means faster.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260215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0" b="1">
                <a:solidFill>
                  <a:srgbClr val="7EB0FF"/>
                </a:solidFill>
                <a:latin typeface="Trebuchet MS"/>
              </a:rPr>
              <a:t>67x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8872"/>
            <a:ext cx="260215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FDDF2"/>
                </a:solidFill>
                <a:latin typeface="Calibri"/>
              </a:rPr>
              <a:t>faster to load the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FDDF2"/>
                </a:solidFill>
                <a:latin typeface="Calibri"/>
              </a:rPr>
              <a:t>concerts list from the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FDDF2"/>
                </a:solidFill>
                <a:latin typeface="Calibri"/>
              </a:rPr>
              <a:t>cache vs the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79393" y="1783080"/>
            <a:ext cx="260215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0" b="1">
                <a:solidFill>
                  <a:srgbClr val="7EB0FF"/>
                </a:solidFill>
                <a:latin typeface="Trebuchet MS"/>
              </a:rPr>
              <a:t>80x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79393" y="2658872"/>
            <a:ext cx="260215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FDDF2"/>
                </a:solidFill>
                <a:latin typeface="Calibri"/>
              </a:rPr>
              <a:t>faster to fetch one item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FDDF2"/>
                </a:solidFill>
                <a:latin typeface="Calibri"/>
              </a:rPr>
              <a:t>by its key from the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FDDF2"/>
                </a:solidFill>
                <a:latin typeface="Calibri"/>
              </a:rPr>
              <a:t>cache vs the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147" y="1783080"/>
            <a:ext cx="260215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0" b="1">
                <a:solidFill>
                  <a:srgbClr val="7EB0FF"/>
                </a:solidFill>
                <a:latin typeface="Trebuchet MS"/>
              </a:rPr>
              <a:t>11x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0147" y="2658872"/>
            <a:ext cx="260215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FDDF2"/>
                </a:solidFill>
                <a:latin typeface="Calibri"/>
              </a:rPr>
              <a:t>faster to save many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FDDF2"/>
                </a:solidFill>
                <a:latin typeface="Calibri"/>
              </a:rPr>
              <a:t>bookings at once vs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FDDF2"/>
                </a:solidFill>
                <a:latin typeface="Calibri"/>
              </a:rPr>
              <a:t>one at a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0901" y="1783080"/>
            <a:ext cx="260215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0" b="1">
                <a:solidFill>
                  <a:srgbClr val="3FD08A"/>
                </a:solidFill>
                <a:latin typeface="Trebuchet M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0901" y="2658872"/>
            <a:ext cx="260215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FDDF2"/>
                </a:solidFill>
                <a:latin typeface="Calibri"/>
              </a:rPr>
              <a:t>tickets can ever be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FDDF2"/>
                </a:solidFill>
                <a:latin typeface="Calibri"/>
              </a:rPr>
              <a:t>oversold, the database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FDDF2"/>
                </a:solidFill>
                <a:latin typeface="Calibri"/>
              </a:rPr>
              <a:t>guarantees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Trebuchet MS"/>
              </a:rPr>
              <a:t>Why GigTrack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260215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solidFill>
                  <a:srgbClr val="3FD08A"/>
                </a:solidFill>
              </a:rPr>
              <a:t>✓ </a:t>
            </a:r>
            <a:r>
              <a:rPr sz="1200">
                <a:solidFill>
                  <a:srgbClr val="CFDDF2"/>
                </a:solidFill>
              </a:rPr>
              <a:t>One home for the whole journey: discover, book, remember.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9393" y="4846320"/>
            <a:ext cx="260215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solidFill>
                  <a:srgbClr val="3FD08A"/>
                </a:solidFill>
              </a:rPr>
              <a:t>✓ </a:t>
            </a:r>
            <a:r>
              <a:rPr sz="1200">
                <a:solidFill>
                  <a:srgbClr val="CFDDF2"/>
                </a:solidFill>
              </a:rPr>
              <a:t>Each datastore used for what it does best.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147" y="4846320"/>
            <a:ext cx="260215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solidFill>
                  <a:srgbClr val="3FD08A"/>
                </a:solidFill>
              </a:rPr>
              <a:t>✓ </a:t>
            </a:r>
            <a:r>
              <a:rPr sz="1200">
                <a:solidFill>
                  <a:srgbClr val="CFDDF2"/>
                </a:solidFill>
              </a:rPr>
              <a:t>Bookings are never oversold and stay safe under load.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0901" y="4846320"/>
            <a:ext cx="260215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solidFill>
                  <a:srgbClr val="3FD08A"/>
                </a:solidFill>
              </a:rPr>
              <a:t>✓ </a:t>
            </a:r>
            <a:r>
              <a:rPr sz="1200">
                <a:solidFill>
                  <a:srgbClr val="CFDDF2"/>
                </a:solidFill>
              </a:rPr>
              <a:t>Fast pages and protected accounts.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9FB2CE"/>
                </a:solidFill>
                <a:latin typeface="Calibri"/>
              </a:rPr>
              <a:t>Measured on the running app over 300 repeats. Cache = Redis, database = MySQL.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825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E84A6"/>
                </a:solidFill>
                <a:latin typeface="Calibri"/>
              </a:rPr>
              <a:t>[ Member F - Full Name - name@sit.singaporetech.edu.sg 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000" b="1" i="0">
                <a:solidFill>
                  <a:srgbClr val="FFFFFF"/>
                </a:solidFill>
                <a:latin typeface="Trebuchet MS"/>
              </a:rPr>
              <a:t>Thank you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CFDDF2"/>
                </a:solidFill>
                <a:latin typeface="Calibri"/>
              </a:rPr>
              <a:t>GigTrack: one home for the live-music journey: discover, book, remember.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D7CF6"/>
                </a:solidFill>
                <a:latin typeface="Calibri"/>
              </a:rPr>
              <a:t>What's next:  a real public dataset,  payments,  mobile,  recommendations.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160520"/>
            <a:ext cx="6583680" cy="1371600"/>
          </a:xfrm>
          <a:prstGeom prst="roundRect">
            <a:avLst/>
          </a:prstGeom>
          <a:solidFill>
            <a:srgbClr val="142A4F"/>
          </a:solidFill>
          <a:ln w="15875">
            <a:solidFill>
              <a:srgbClr val="2D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CFDDF2"/>
                </a:solidFill>
                <a:latin typeface="Calibri"/>
              </a:rPr>
              <a:t>Point of contact (team lead):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[ Member 1 - Full Name ]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D7CF6"/>
                </a:solidFill>
                <a:latin typeface="Calibri"/>
              </a:rPr>
              <a:t>[ teamlead-name@sit.singaporetech.edu.sg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280"/>
                </a:solidFill>
                <a:latin typeface="Calibri"/>
              </a:rPr>
              <a:t>Group GXX · INF2003 Database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