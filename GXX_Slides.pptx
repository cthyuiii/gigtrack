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10 minutes, all 6 members present, real voices.</a:t>
            </a:r>
          </a:p>
          <a:p>
            <a:r>
              <a:t>Each member has 2+ slides: how it works, then why we chose it (with a performance graph).</a:t>
            </a:r>
          </a:p>
          <a:p>
            <a:r>
              <a:t>Member F runs one live demo of everything, then shows the results and pros.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Pre-recording: docker compose up, app on http://localhost:5001 with images.</a:t>
            </a:r>
          </a:p>
          <a:p>
            <a:r>
              <a:t>Terminals ready for the demo: mysql, mongosh, redis-cli (MONITOR), MinIO console.</a:t>
            </a:r>
          </a:p>
          <a:p>
            <a:r>
              <a:t>Keep each explainer tight so the live demo has room. Stay under 10:00.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A. Set the scene in two lines, then go to the slides.</a:t>
            </a:r>
          </a:p>
          <a:p>
            <a:r>
              <a:t>Tease the four-store stack so the next slide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Sell it as a product. Hook: fans juggle apps, lose tickets, forget setlists.</a:t>
            </a:r>
          </a:p>
          <a:p>
            <a:r>
              <a:t>Value: one home for the journey. Two roles: customers and admins.</a:t>
            </a:r>
          </a:p>
          <a:p>
            <a:r>
              <a:t>Set up the next slide: the journey needs different kinds of data, so we use four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picture: the app talks to four stores, each chosen for a reason.</a:t>
            </a:r>
          </a:p>
          <a:p>
            <a:r>
              <a:t>Name the reason for each in one line; the next speakers go deeper.</a:t>
            </a:r>
          </a:p>
          <a:p>
            <a:r>
              <a:t>Mention 'polyglot persistence' is normal in industry; each store scales independently. Hand to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B. Two lines on data and model, then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but realistic and rule-respecting; deterministic so markers reseed identical data.</a:t>
            </a:r>
          </a:p>
          <a:p>
            <a:r>
              <a:t>Also: 30 artists, 15 venues, ~176 bookings, 220 follows, ~25 setlists, 30 bios.</a:t>
            </a:r>
          </a:p>
          <a:p>
            <a:r>
              <a:t>Set up the model on the next slide. Hand within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ER diagram: show the one-to-many, the two many-to-many junctions, and the link to documents.</a:t>
            </a:r>
          </a:p>
          <a:p>
            <a:r>
              <a:t>Note 3NF normalisation and the data-type variety the brief asks for. Hand to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C (MySQL). Then how it works, then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relational: bookings and money need strict correctness (ACID).</a:t>
            </a:r>
          </a:p>
          <a:p>
            <a:r>
              <a:t>The triggers are the core integrity guarantee; the seat trigger makes overselling impossible.</a:t>
            </a:r>
          </a:p>
          <a:p>
            <a:r>
              <a:t>The flow chart shows the booking path: quota check + insert + trigger in one transaction.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the seat trigger guarantees no oversell for only ~12% more time per booking.</a:t>
            </a:r>
          </a:p>
          <a:p>
            <a:r>
              <a:t>Right panel: committing in batches is ~3x faster than one commit per row (durability cost).</a:t>
            </a:r>
          </a:p>
          <a:p>
            <a:r>
              <a:t>Production note: we added a connection pool, which cut a fresh-connection read from ~17 ms to ~5 ms (see the pooling slide). Hand to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D (MongoDB + MinIO). Then how, then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documents: variable shape would need many sparse tables and joins in SQL; a document is read as one unit.</a:t>
            </a:r>
          </a:p>
          <a:p>
            <a:r>
              <a:t>Why object storage: documents have a 16 MB cap and image bytes bloat backups; storage is built for blobs.</a:t>
            </a:r>
          </a:p>
          <a:p>
            <a:r>
              <a:t>The flow chart shows bytes going to MinIO while the database keeps the pointer.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the app's own CPU time is far below the total time, so the database engine did the work.</a:t>
            </a:r>
          </a:p>
          <a:p>
            <a:r>
              <a:t>That means analytics scale with the database, not the app process.</a:t>
            </a:r>
          </a:p>
          <a:p>
            <a:r>
              <a:t>Production: replica set for failover, sharding for scale, object storage behind a CDN.</a:t>
            </a:r>
          </a:p>
          <a:p>
            <a:r>
              <a:t>Then a dedicated slide on why images live in object storage, not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databases are the wrong home for large binaries. MongoDB's 16 MB document cap plus backup and replication bloat make it slow and costly.</a:t>
            </a:r>
          </a:p>
          <a:p>
            <a:r>
              <a:t>Object storage (MinIO, S3, R2) is purpose-built for blobs: store the bytes once, keep a tiny pointer in the DB, and serve files straight to the browser with a presigned URL behind a CDN.</a:t>
            </a:r>
          </a:p>
          <a:p>
            <a:r>
              <a:t>So the database stays lean and fast while image storage scales on its own. This is exactly what GigTrack does for review photos and artist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E (Redis + security). Then how, then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a cache: hot listing pages and sessions belong in memory, not a fresh query each time.</a:t>
            </a:r>
          </a:p>
          <a:p>
            <a:r>
              <a:t>Cache-aside for listings; write-behind for view counts; sessions slide on each request.</a:t>
            </a:r>
          </a:p>
          <a:p>
            <a:r>
              <a:t>Security one line: parameterised SQL, bcrypt, CSRF tokens, hardened cookies, admins can't buy.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a key lookup from Redis is about 4x faster than a pooled MySQL lookup; cached pages ~3.5x faster.</a:t>
            </a:r>
          </a:p>
          <a:p>
            <a:r>
              <a:t>Under 8 threads Redis throughput scaled about 2x and stays the fastest per call.</a:t>
            </a:r>
          </a:p>
          <a:p>
            <a:r>
              <a:t>Production: Redis Cluster for HA, persistence for durability, eviction to cap memory.</a:t>
            </a:r>
          </a:p>
          <a:p>
            <a:r>
              <a:t>Then a dedicated slide on why Redis is a cache, not the whole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Redis is a thin, fast layer over the databases, not a replacement. RAM costs far more per GB than disk and is limited in size.</a:t>
            </a:r>
          </a:p>
          <a:p>
            <a:r>
              <a:t>Because keys have TTLs and can be evicted, anything in Redis must be rebuildable from MySQL and MongoDB. It is never the source of truth.</a:t>
            </a:r>
          </a:p>
          <a:p>
            <a:r>
              <a:t>Redis also has no joins, foreign keys or cross-entity transactions, so integrity guarantees like no oversold seats must live in MySQL.</a:t>
            </a:r>
          </a:p>
          <a:p>
            <a:r>
              <a:t>Right model: durable bulk data on disk, the hot few percent cached in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for Member F: the live demo, the pooling story, then the results.</a:t>
            </a:r>
          </a:p>
          <a:p>
            <a:r>
              <a:t>Member F drives one screen recording that touches every feature and all four stores.</a:t>
            </a:r>
          </a:p>
          <a:p>
            <a:r>
              <a:t>Keep the four terminals visible so the audience sees the data change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run sheet (docs/demo_cli.md). Keep mysql, mongosh, redis-cli MONITOR and MinIO visible.</a:t>
            </a:r>
          </a:p>
          <a:p>
            <a:r>
              <a:t>1) Sign up + log in: KEYS session:* shows a token, TTL ~1800; users.password_hash is bcrypt.</a:t>
            </a:r>
          </a:p>
          <a:p>
            <a:r>
              <a:t>2) Load /concerts, reload: MONITOR shows a cache hit, no MySQL query the second time.</a:t>
            </a:r>
          </a:p>
          <a:p>
            <a:r>
              <a:t>3) Book; attempt an oversell (trigger blocks it); attempt a 7th ticket (quota blocks it).</a:t>
            </a:r>
          </a:p>
          <a:p>
            <a:r>
              <a:t>4) Post a review with a photo: new MongoDB doc photos:[{url,key}], object in MinIO; like twice, unchanged.</a:t>
            </a:r>
          </a:p>
          <a:p>
            <a:r>
              <a:t>5) Follow an artist; cancel a booking, available_seats restored by the trigger.</a:t>
            </a:r>
          </a:p>
          <a:p>
            <a:r>
              <a:t>6) Admin: create a concert with a new artist+venue (one transaction); delete a booking-free concert, Mongo + MinIO cascaded away.</a:t>
            </a:r>
          </a:p>
          <a:p>
            <a:r>
              <a:t>Then the results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benchmark's [pool] group: a fresh connection per call was ~17 ms, a pooled connection ~5 ms, so about 3.4x faster and ~12 ms saved per read.</a:t>
            </a:r>
          </a:p>
          <a:p>
            <a:r>
              <a:t>The pool keeps a few connections open and hands one out per request, so the TCP + auth handshake happens once at startup, not on every query (DBUtils PooledDB around PyMySQL).</a:t>
            </a:r>
          </a:p>
          <a:p>
            <a:r>
              <a:t>This is the 'we found it and fixed it' point: the benchmark identified the cost and pooling removed it. Then to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Big-number recap, plain language.</a:t>
            </a:r>
          </a:p>
          <a:p>
            <a:r>
              <a:t>3.4x: pooled reads vs opening a new MySQL connection every call (17 ms to 5 ms).</a:t>
            </a:r>
          </a:p>
          <a:p>
            <a:r>
              <a:t>3.5x: the concerts list from Redis vs running the 3-table MySQL query.</a:t>
            </a:r>
          </a:p>
          <a:p>
            <a:r>
              <a:t>4x: one record by key, Redis GET vs a pooled MySQL primary-key lookup.</a:t>
            </a:r>
          </a:p>
          <a:p>
            <a:r>
              <a:t>0 oversells: the seat trigger guarantees it. Close on the pros, then the contact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 lists the team lead / point-of-contact email (required).</a:t>
            </a:r>
          </a:p>
          <a:p>
            <a:r>
              <a:t>Recap the value in one sentence, thank the markers, keep under 10:00.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371600"/>
            <a:ext cx="914400" cy="91440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Trebuchet MS"/>
              </a:rPr>
              <a:t>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Trebuchet MS"/>
              </a:rPr>
              <a:t>GigTrack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CFDDF2"/>
                </a:solidFill>
                <a:latin typeface="Calibri"/>
              </a:rPr>
              <a:t>A live-music discovery, ticketing and memory companion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D7CF6"/>
                </a:solidFill>
                <a:latin typeface="Calibri"/>
              </a:rPr>
              <a:t>INF2003 Database Systems, 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749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Group GXX    Member 1 (lead) · Member 2 · Member 3 · Member 4 · Member 5 · Member 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[ Replace GXX and names; put each presenter's name and SIT email on their slides.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E1B33"/>
                </a:solidFill>
                <a:latin typeface="Trebuchet MS"/>
              </a:rPr>
              <a:t>Run of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17904"/>
            <a:ext cx="365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517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151790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1517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965960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965960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Background, the problem, and the four-store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196596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5768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15768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715768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5768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datasets and the data model (ER)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715768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65576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465576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3465576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Relational database (MySQL): how it works, and why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6528" y="3465576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15384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15384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4215384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215384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Documents and media (MongoDB, MinIO): how, and 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4215384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965192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965192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65192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Speed, sessions, security (Redis): how, and why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965192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715000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715000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5715000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715000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One live demo of everything, then the results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57150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3 slides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9672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Every database part explains how it works, then why we chose it with the speed numbers. One live demo shows it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Background and the stack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The problem we solve, and the four databases behind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The fan problem: gigs, tickets and memories scattered across apps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GigTrack: one home to discover, book and remember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Why four datastores instead of one (polyglot persistence)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A - Full Name - name@sit.singaporetech.edu.sg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Background and the problem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Fans use a dozen apps to find gigs, lose their tickets, and forget the setlist.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GigTrack is one home for the whole journey: discover, book, and remember.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Two kinds of user: customers who browse and book, and admins who run the catalogue.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Goal: build a real product on a sensible mix of databases, and back every choice with numbers.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9431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1.  Discover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browse and filter gigs by city, genre and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7934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3147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2.  Book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buy tickets safely, up to six per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50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6863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3.  Remember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setlists, reviews and photos after the show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A - Full Name - name@sit.singaporetech.edu.sg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The four-store stack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Each kind of data goes to the store that handles it best, instead of forcing one database to do everything.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app ties them together and keeps them consistent.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MySQL for the core records, MongoDB for flexible content, Redis for speed, MinIO for image files.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This 'polyglot' approach is a standard pattern in real systems, and each store can scale on its own.</a:t>
            </a:r>
          </a:p>
        </p:txBody>
      </p:sp>
      <p:pic>
        <p:nvPicPr>
          <p:cNvPr id="6" name="Picture 5" descr="si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91640"/>
            <a:ext cx="5257800" cy="3286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050917"/>
            <a:ext cx="5257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Four datastores, connected through the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A - Full Name - name@sit.singaporetech.edu.sg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The data and the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What we store, and how it is structured.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A realistic, rule-respecting synthetic catalogue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The entities and how they relate (the ER model)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Where the relational and document worlds meet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B - Full Name - name@sit.singaporetech.edu.sg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The data and datasets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A realistic catalogue, generated to a fixed recipe so everyone gets the exact same data.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It already respects the rules: no oversold seats, VIP pricing, and the six-ticket limit.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Real artist photos are stored as files, with only a link kept in the database.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Easy to swap in a real public dataset later (Kaggle, Setlist.fm, data.gov.sg) through the same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18232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9700" y="1920240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9700" y="2618232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concerts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77639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675631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ticket 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9700" y="3977639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220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9700" y="4675631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reviews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B - Full Name - name@sit.singaporetech.edu.sg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How the data is modelled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Three kinds of link: one-to-many (a venue has many concerts), many-to-many (line-ups and follows), and a link from the document side back to the main records.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A mix of data types: text, whole numbers, money, dates, and yes/no flags.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tables are normalised, so each fact is stored once with no duplication.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document side references the main records by id, kept consistent by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ER diagram (docs/er_diagram.mermaid)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er_diagram.mermaid at mermaid.live, paste the picture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B - Full Name - name@sit.singaporetech.edu.sg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The relational core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MySQL: identity, inventory and safe bookings.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8 tables with foreign keys, checks and triggers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Safe booking under load, in one locked transaction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Why MySQL, and how it scales in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C - Full Name - name@sit.singaporetech.edu.sg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Relational database (MySQL):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8 tables hold the core facts: users, artists, venues, concerts, tickets, bookings, follows and line-ups.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database enforces the rules itself: foreign keys, value checks, and 4 triggers.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Seats can never be oversold, and a VIP tier can never be cheaper than a normal one.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Buying is safe even if two people click at once: the check and the save happen in one locked step.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Built-in reports, like a revenue ranking per city.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Booking and seat trigger (flow_diagrams.md §2)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§2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C - Full Name - name@sit.singaporetech.edu.sg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MySQL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Rock-solid for money and inventory (ACID transactions).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Business rules live in the database itself (triggers and checks).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Stays correct even when many people book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Runs as a primary with read replicas, so reads scale out and writes stay consistent.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 connection pool removes the per-request connection cost we measured.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Automated backups and point-in-time recovery protect the data.</a:t>
            </a:r>
          </a:p>
        </p:txBody>
      </p:sp>
      <p:pic>
        <p:nvPicPr>
          <p:cNvPr id="8" name="Picture 7" descr="bench_my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4203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27653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Integrity adds about 12% per booking; batching writes is about 3x faster.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C - Full Name - name@sit.singaporetech.edu.sg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Documents and media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MongoDB for flexible content, MinIO for image files.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Reviews and setlists as flexible documents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Photos in object storage, links kept in the database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Why MongoDB and MinIO, with server-side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Documents and media (MongoDB, MinIO):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Reviews and setlists vary a lot (tags, photos, 10 to 40 songs), so we store them as flexible documents with no empty columns.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Likes are stored as a set, so liking twice still counts once.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Photos: the picture file lives in storage (MinIO); the database keeps only a link.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Built-in analytics: a ratings dashboard and a join, done inside the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Review with photo: pointer vs blob (flow_diagrams.md §3)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§3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MongoDB and MinIO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Flexible shape for reviews and setlists, with no empty columns.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Analytics (dashboards, joins) run inside the database.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Image files never bloat the database; object storage is built for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A78C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MongoDB runs as a replica set for high availability, and shards to scale out.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Object storage scales without limit and is served through a CDN.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Swap MinIO for AWS S3 or Cloudflare R2 by changing only the endpoint.</a:t>
            </a:r>
          </a:p>
        </p:txBody>
      </p:sp>
      <p:pic>
        <p:nvPicPr>
          <p:cNvPr id="8" name="Picture 7" descr="bench_mongo_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5355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391787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Aggregations run server-side in about half a millisecond.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image files belong in object storage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A MongoDB document is capped at 16 MB, so larger or multiple photos may not even fit (GridFS works, but adds moving parts).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Image bytes bloat the database: every backup, dump and replica copies all those gigabytes, so backups and restores crawl.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Big blobs push hot rows out of the database's memory cache, slowing the everyday queries that matter.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Databases are tuned for small structured records and transactions, not for streaming large binary 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9431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Database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keeps only a small pointer: {url, key}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7934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3147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Object storage (MinIO)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image bytes: cheap, unlimited, built for blobs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50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6863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Browser via CDN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fetches the file directly, no DB round-trip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Speed, sessions and security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Redis: fast pages, self-expiring sessions, safe accounts.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Caching hot pages and counting views in memory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Sessions that expire on their own (auto logout)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Why Redis, plus the security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Speed, sessions and security (Redis):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Popular pages are cached, so they load instantly, and the cache refreshes itself.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Login sessions live in memory and expire on their own (auto logout after 30 minutes).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View counts are tallied in memory and saved to the database in the background.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Security in plain terms: passwords are scrambled, forms are protected, cookies are locked down, and admins cannot buy tickets.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Browse caching and view counters (flow_diagrams.md §4)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§4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Redis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Makes popular pages and logins feel instant.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Takes heavy read load off the database.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Sessions and caches expire on their own (TTLs).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23B4E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Runs as a cluster for high availability and to spread keys across nodes.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Optional persistence (snapshots or an append-log) so data survives restarts.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Memory is capped with eviction; one shared session store across many app servers.</a:t>
            </a:r>
          </a:p>
        </p:txBody>
      </p:sp>
      <p:pic>
        <p:nvPicPr>
          <p:cNvPr id="8" name="Picture 7" descr="bench_point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6787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534942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Fetching one item by its key: Redis vs MongoDB vs MySQL.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not store everything in Redis?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Redis lives in RAM: fast, but small and expensive, so you cannot affordably hold the whole catalogue and all history in memory.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It is a cache first: keys expire (TTL) and can be evicted when memory fills, so data can simply disappear, which is unsafe for a source of truth.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Durability is limited: an in-memory store can lose recent writes on a crash, while a disk database is built to survive one.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No joins, constraints or rich queries: Redis cannot enforce 'no oversell' or run the reports MySQL and MongoDB 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9431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Redis (in memory)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hot working set: cache, sessions, counters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7934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3147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MySQL + MongoDB (disk)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full catalogue and history, durable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50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6863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On a cache miss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read the database, then refill Redis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51560"/>
            <a:ext cx="1051560" cy="1051560"/>
          </a:xfrm>
          <a:prstGeom prst="round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4600" b="1">
                <a:solidFill>
                  <a:srgbClr val="FFFFFF"/>
                </a:solidFill>
                <a:latin typeface="Trebuchet MS"/>
              </a:rPr>
              <a:t>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097280"/>
            <a:ext cx="694944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EB0FF"/>
                </a:solidFill>
                <a:latin typeface="Trebuchet MS"/>
              </a:rPr>
              <a:t>PART 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Member 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548640"/>
            <a:ext cx="1554480" cy="310896"/>
          </a:xfrm>
          <a:prstGeom prst="roundRect">
            <a:avLst/>
          </a:prstGeom>
          <a:solidFill>
            <a:srgbClr val="F9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rebuchet MS"/>
              </a:rPr>
              <a:t>●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Trebuchet MS"/>
              </a:rPr>
              <a:t>Bringing it all together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CFDDF2"/>
                </a:solidFill>
                <a:latin typeface="Calibri"/>
              </a:rPr>
              <a:t>The whole app live, then the headline numbers.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87952"/>
            <a:ext cx="2011680" cy="54864"/>
          </a:xfrm>
          <a:prstGeom prst="rect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EB0FF"/>
                </a:solidFill>
                <a:latin typeface="Trebuchet MS"/>
              </a:rPr>
              <a:t>What's coming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28032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One end-to-end live demo across all four stores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The connection-pooling win we found and fixed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D7CF6"/>
                </a:solidFill>
                <a:latin typeface="Trebuchet MS"/>
              </a:rPr>
              <a:t>▸  </a:t>
            </a:r>
            <a:r>
              <a:rPr sz="1400">
                <a:solidFill>
                  <a:srgbClr val="CFDDF2"/>
                </a:solidFill>
                <a:latin typeface="Calibri"/>
              </a:rPr>
              <a:t>Results recap: the speed numbers that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9880" y="548640"/>
            <a:ext cx="1417320" cy="310896"/>
          </a:xfrm>
          <a:prstGeom prst="roundRect">
            <a:avLst/>
          </a:prstGeom>
          <a:solidFill>
            <a:srgbClr val="F9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rebuchet MS"/>
              </a:rPr>
              <a:t>●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1B33"/>
                </a:solidFill>
                <a:latin typeface="Trebuchet MS"/>
              </a:rPr>
              <a:t>Live demo: one run, every feature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F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7393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Sign up and log 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A session appears in the cache; the password is stored scrambled, not as text.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9125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Browse and filter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Open the page again and it loads instantly from the cache.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0857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Book tickets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Try to overbook, or buy more than six: both are blocked on the spot.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77393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Review with a photo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The photo is saved to storage; like it twice and it still counts once.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24612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19125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Follow and cancel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Follow an artist; cancel a booking and the seat is returned automatically.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6344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60857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Admin tools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Create a concert (new act and venue in one go); delete one and its reviews and photos are cleaned up everywhere.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20624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1B33"/>
                </a:solidFill>
                <a:latin typeface="Trebuchet MS"/>
              </a:rPr>
              <a:t>Making it faster: connection pooling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benchmark showed most of a database read was just opening a new connection. We added a connection pool, so the app reuses a few kept-alive connections instead of reconnecting on every request.</a:t>
            </a:r>
          </a:p>
        </p:txBody>
      </p:sp>
      <p:pic>
        <p:nvPicPr>
          <p:cNvPr id="5" name="Picture 4" descr="pool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760" y="2606040"/>
            <a:ext cx="609600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97103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A new connection per call (~17 ms) vs a pooled connection (~5 ms): about 3.4x faster.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Trebuchet MS"/>
              </a:rPr>
              <a:t>The results, and why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FDDF2"/>
                </a:solidFill>
                <a:latin typeface="Calibri"/>
              </a:rPr>
              <a:t>Same job done two ways. Bigger means faster.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3.4x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reads with a pool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than a new connection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on every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3.5x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9393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to load the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concerts list from the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cache vs the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4x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to fetch one item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by its key (cache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vs the database)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901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3FD08A"/>
                </a:solidFill>
                <a:latin typeface="Trebuchet M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0901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tickets can ever 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oversold, the database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guarantees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Why GigTrack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One home for the whole journey: discover, book, remember.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9393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Each datastore used for what it does best.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Bookings are never oversold and stay safe under load.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0901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Fast pages and protected accounts.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B2CE"/>
                </a:solidFill>
                <a:latin typeface="Calibri"/>
              </a:rPr>
              <a:t>Measured on the running app over 300 repeats. Cache = Redis, database = MySQL.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000" b="1" i="0">
                <a:solidFill>
                  <a:srgbClr val="FFFFFF"/>
                </a:solidFill>
                <a:latin typeface="Trebuchet MS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CFDDF2"/>
                </a:solidFill>
                <a:latin typeface="Calibri"/>
              </a:rPr>
              <a:t>GigTrack: one home for the live-music journey: discover, book, remember.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D7CF6"/>
                </a:solidFill>
                <a:latin typeface="Calibri"/>
              </a:rPr>
              <a:t>What's next:  a real public dataset,  payments,  mobile,  recommendations.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160520"/>
            <a:ext cx="6583680" cy="1371600"/>
          </a:xfrm>
          <a:prstGeom prst="roundRect">
            <a:avLst/>
          </a:prstGeom>
          <a:solidFill>
            <a:srgbClr val="142A4F"/>
          </a:solidFill>
          <a:ln w="15875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6459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FDDF2"/>
                </a:solidFill>
                <a:latin typeface="Calibri"/>
              </a:rPr>
              <a:t>Point of contact (team lead):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[ Member 1 - Full Name ]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D7CF6"/>
                </a:solidFill>
                <a:latin typeface="Calibri"/>
              </a:rPr>
              <a:t>[ teamlead-name@sit.singaporetech.edu.sg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Group GXX · INF2003 Database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